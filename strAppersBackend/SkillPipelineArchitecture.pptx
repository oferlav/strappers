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F80ED"/>
                </a:solidFill>
              </a:rPr>
              <a:t>StrAppers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371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Skill Pipeline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514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C8D6EA"/>
                </a:solidFill>
              </a:rPr>
              <a:t>From keyword matching to data-driven candidate ranking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3200400"/>
            <a:ext cx="1371600" cy="45720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33375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8D6EA"/>
                </a:solidFill>
              </a:rPr>
              <a:t>Two structured skill layers connect course generation to employer matching.</a:t>
            </a:r>
          </a:p>
          <a:p>
            <a:pPr algn="l"/>
            <a:r>
              <a:rPr sz="1500" b="0" i="0">
                <a:solidFill>
                  <a:srgbClr val="C8D6EA"/>
                </a:solidFill>
              </a:rPr>
              <a:t>First-Level Skill shapes the course.  Second-Level Skill scores the candidate.</a:t>
            </a:r>
          </a:p>
          <a:p>
            <a:pPr algn="l"/>
            <a:r>
              <a:rPr sz="1500" b="0" i="0">
                <a:solidFill>
                  <a:srgbClr val="27AE87"/>
                </a:solidFill>
              </a:rPr>
              <a:t>The course builder is decoupled from the skill source — institute or employer.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355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F8A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From Cold Matching to Evidence-Based Ranking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440680" cy="512064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440680" cy="54864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B5757"/>
                </a:solidFill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InstituteRole.Competencies</a:t>
            </a:r>
          </a:p>
          <a:p>
            <a:pPr algn="l"/>
            <a:r>
              <a:rPr sz="1300" b="0" i="0">
                <a:solidFill>
                  <a:srgbClr val="C8D6EA"/>
                </a:solidFill>
              </a:rPr>
              <a:t>= free-text keyword list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C8D6EA"/>
                </a:solidFill>
              </a:rPr>
              <a:t>Course cards reference generic</a:t>
            </a:r>
          </a:p>
          <a:p>
            <a:pPr algn="l"/>
            <a:r>
              <a:rPr sz="1300" b="0" i="0">
                <a:solidFill>
                  <a:srgbClr val="C8D6EA"/>
                </a:solidFill>
              </a:rPr>
              <a:t>technologies, not proficiency levels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EB5757"/>
                </a:solidFill>
              </a:rPr>
              <a:t>Job matching = keyword overlap</a:t>
            </a:r>
          </a:p>
          <a:p>
            <a:pPr algn="l"/>
            <a:r>
              <a:rPr sz="1300" b="0" i="0">
                <a:solidFill>
                  <a:srgbClr val="C8D6EA"/>
                </a:solidFill>
              </a:rPr>
              <a:t>EmployerCandidate = binary flag</a:t>
            </a:r>
          </a:p>
          <a:p>
            <a:pPr algn="l"/>
            <a:r>
              <a:rPr sz="1300" b="0" i="0">
                <a:solidFill>
                  <a:srgbClr val="C8D6EA"/>
                </a:solidFill>
              </a:rPr>
              <a:t>(surfaced or not — no score)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EB5757"/>
                </a:solidFill>
              </a:rPr>
              <a:t>No evidence. No explanation.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371600"/>
            <a:ext cx="5806440" cy="512064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371600"/>
            <a:ext cx="5806440" cy="54864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87"/>
                </a:solidFill>
              </a:rPr>
              <a:t>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19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CourseSkillContext (resolved at build time)</a:t>
            </a:r>
          </a:p>
          <a:p>
            <a:pPr algn="l"/>
            <a:r>
              <a:rPr sz="1300" b="0" i="0">
                <a:solidFill>
                  <a:srgbClr val="C8D6EA"/>
                </a:solidFill>
              </a:rPr>
              <a:t>= structured semantic rubric (AI-generated)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0" i="0">
                <a:solidFill>
                  <a:srgbClr val="C8D6EA"/>
                </a:solidFill>
              </a:rPr>
              <a:t>Cards reference proficiency targets,</a:t>
            </a:r>
          </a:p>
          <a:p>
            <a:pPr algn="l"/>
            <a:r>
              <a:rPr sz="1300" b="0" i="0">
                <a:solidFill>
                  <a:srgbClr val="C8D6EA"/>
                </a:solidFill>
              </a:rPr>
              <a:t>sprint behaviors, and deliverables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27AE87"/>
                </a:solidFill>
              </a:rPr>
              <a:t>Job matching = evidence vs. rubric</a:t>
            </a:r>
          </a:p>
          <a:p>
            <a:pPr algn="l"/>
            <a:r>
              <a:rPr sz="1300" b="0" i="0">
                <a:solidFill>
                  <a:srgbClr val="C8D6EA"/>
                </a:solidFill>
              </a:rPr>
              <a:t>Ranked + explained per domain</a:t>
            </a:r>
          </a:p>
          <a:p>
            <a:pPr algn="l"/>
            <a:r>
              <a:rPr sz="1300" b="0" i="1">
                <a:solidFill>
                  <a:srgbClr val="C8D6EA"/>
                </a:solidFill>
              </a:rPr>
              <a:t>('strong API design, gap in demos')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300" b="1" i="0">
                <a:solidFill>
                  <a:srgbClr val="27AE87"/>
                </a:solidFill>
              </a:rPr>
              <a:t>Data-driven. Explainable. Scalable.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B59B6"/>
                </a:solidFill>
              </a:rPr>
              <a:t>KEY 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Course Builder Decoupling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7043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D6EA"/>
                </a:solidFill>
              </a:rPr>
              <a:t>The course builder does not care where the skill comes from.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37360"/>
            <a:ext cx="1152144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383280" cy="320040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20240"/>
            <a:ext cx="3383280" cy="54864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93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87"/>
                </a:solidFill>
              </a:rPr>
              <a:t>PRIORITY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EmployerSkill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A"/>
                </a:solidFill>
              </a:rPr>
              <a:t>When an employer is linked to the template.
Course shaped by real job requirements.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66160"/>
            <a:ext cx="3017520" cy="27432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301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87"/>
                </a:solidFill>
              </a:rPr>
              <a:t>Phase 5+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1920240"/>
            <a:ext cx="3383280" cy="320040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920240"/>
            <a:ext cx="338328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993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</a:rPr>
              <a:t>PRIORITY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InstituteRoleSkill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A"/>
                </a:solidFill>
              </a:rPr>
              <a:t>When a skill has been generated for the role.
Course shaped by institute's structured rubric.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566160"/>
            <a:ext cx="3017520" cy="27432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6301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80ED"/>
                </a:solidFill>
              </a:rPr>
              <a:t>Phase 2+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920240"/>
            <a:ext cx="3383280" cy="320040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55279" y="1920240"/>
            <a:ext cx="3383280" cy="54864"/>
          </a:xfrm>
          <a:prstGeom prst="rect">
            <a:avLst/>
          </a:prstGeom>
          <a:solidFill>
            <a:srgbClr val="5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199339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A6F8A"/>
                </a:solidFill>
              </a:rPr>
              <a:t>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2286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Raw Competencies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74320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6EA"/>
                </a:solidFill>
              </a:rPr>
              <a:t>Always available. Current behavior.
No skill generation required.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2440" y="3566160"/>
            <a:ext cx="3017520" cy="27432"/>
          </a:xfrm>
          <a:prstGeom prst="rect">
            <a:avLst/>
          </a:prstGeom>
          <a:solidFill>
            <a:srgbClr val="5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6301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6F8A"/>
                </a:solidFill>
              </a:rPr>
              <a:t>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352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5303520"/>
            <a:ext cx="54864" cy="64008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15000" y="5760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9B59B6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257800"/>
            <a:ext cx="11521440" cy="132588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5257800"/>
            <a:ext cx="1152144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3492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</a:rPr>
              <a:t>ResolveSkillAsync()  →  CourseSkillContext  →  BuildUserPrompt()  →  AI  →  Sprint Cards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74243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8D6EA"/>
                </a:solidFill>
              </a:rPr>
              <a:t>CourseSkillContext carries: CoursePromptContext (injected into prompt)  +  EvaluationPrompt (used later for scoring)  +  Source enum</a:t>
            </a:r>
          </a:p>
          <a:p>
            <a:pPr algn="l"/>
            <a:r>
              <a:rPr sz="1100" b="1" i="0">
                <a:solidFill>
                  <a:srgbClr val="FFFFFF"/>
                </a:solidFill>
              </a:rPr>
              <a:t>Swapping the skill source only requires changing ResolveSkillAsync() — the builder, prompt file, and AI call are untouched.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</a:rPr>
              <a:t>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End-to-End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126187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299923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994A"/>
                </a:solidFill>
              </a:rPr>
              <a:t>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6187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87"/>
                </a:solidFill>
              </a:rPr>
              <a:t>EMPLOYER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508760"/>
            <a:ext cx="1920240" cy="96012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508760"/>
            <a:ext cx="192024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" y="160020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 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20116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Name, description
competencies, tool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508760"/>
            <a:ext cx="1554480" cy="9601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77440" y="1508760"/>
            <a:ext cx="155448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87168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InstituteRoleSkill
Builder prompt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1508760"/>
            <a:ext cx="2011680" cy="96012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508760"/>
            <a:ext cx="201168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15968" y="160020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InstituteRoleSkill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5968" y="20116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1st-Level Skill
structured rubric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21408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50208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2606040"/>
            <a:ext cx="6035040" cy="438912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82880" y="2606040"/>
            <a:ext cx="603504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65176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B6"/>
                </a:solidFill>
              </a:rPr>
              <a:t>ResolveSkillAsync()  — priority: EmployerSkill &gt; InstituteRoleSkill &gt; Raw Competencies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3200400"/>
            <a:ext cx="6035040" cy="96012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2880" y="3200400"/>
            <a:ext cx="603504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2608" y="3291840"/>
            <a:ext cx="585215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Course Builder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" y="3703320"/>
            <a:ext cx="5852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CourseSkillContext injected
Sprint cards generated per role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4343400"/>
            <a:ext cx="1920240" cy="96012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82880" y="4343400"/>
            <a:ext cx="1920240" cy="457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443484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Student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" y="48463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SprintRoleCardSnapshot
GitHub activity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343400"/>
            <a:ext cx="1554480" cy="9601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377440" y="4343400"/>
            <a:ext cx="1554480" cy="457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443484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87168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EvaluationPrompt
+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0" y="4343400"/>
            <a:ext cx="2011680" cy="96012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06240" y="4343400"/>
            <a:ext cx="2011680" cy="45720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5968" y="443484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CandidateSkillScore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15968" y="4846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2nd-Level Skill
scored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21408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50208" y="4663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3310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D6EA"/>
                </a:solidFill>
              </a:rPr>
              <a:t>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3310128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A6F8A"/>
                </a:solidFill>
              </a:rPr>
              <a:t>course
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0640" y="248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F80ED"/>
                </a:solidFill>
              </a:rPr>
              <a:t>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09360" y="1508760"/>
            <a:ext cx="1828800" cy="96012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309360" y="1508760"/>
            <a:ext cx="1828800" cy="45720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19088" y="1600200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Job Ad Text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088" y="201168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Employer submits
raw job ad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1508760"/>
            <a:ext cx="1554480" cy="960120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12480" y="1508760"/>
            <a:ext cx="1554480" cy="45720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2207" y="160020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Generator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22207" y="20116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EmployerSkill
Builder prompt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241280" y="1508760"/>
            <a:ext cx="1737360" cy="96012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241280" y="1508760"/>
            <a:ext cx="1737360" cy="45720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51007" y="1600200"/>
            <a:ext cx="1554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EmployerSkill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51007" y="20116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Same schema as
1st-Level Skill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56448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0" y="1828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064240" y="248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87"/>
                </a:solidFill>
              </a:rPr>
              <a:t>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35640" y="2487168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27AE87"/>
                </a:solidFill>
              </a:rPr>
              <a:t>template
link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315200" y="2578608"/>
            <a:ext cx="4800600" cy="475488"/>
          </a:xfrm>
          <a:prstGeom prst="rect">
            <a:avLst/>
          </a:prstGeom>
          <a:solidFill>
            <a:srgbClr val="14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315200" y="2578608"/>
            <a:ext cx="4800600" cy="36576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52360" y="2624328"/>
            <a:ext cx="4617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AE87"/>
                </a:solidFill>
              </a:rPr>
              <a:t>InstituteTemplate.EmployerSkillId → priority override in resolver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58000" y="4343400"/>
            <a:ext cx="5212080" cy="96012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58000" y="4343400"/>
            <a:ext cx="5212080" cy="4572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67728" y="44348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Matching Engine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67728" y="4846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EmployerSkill x CandidateSkillScore
Ranked list + score + explanation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06424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AE87"/>
                </a:solidFill>
              </a:rPr>
              <a:t>↓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413308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2994A"/>
                </a:solidFill>
              </a:rPr>
              <a:t>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858000" y="5486400"/>
            <a:ext cx="5212080" cy="100584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5486400"/>
            <a:ext cx="5212080" cy="45720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40880" y="55595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OUTPUT: Ranked Candidate List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0" y="58978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Match score  •  Domain breakdown  •  Evidence explanation  •  Gap analysis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418320" y="5321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B5757"/>
                </a:solidFill>
              </a:rPr>
              <a:t>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</a:rPr>
              <a:t>FIRST-LEVEL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InstituteRoleSkill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6EA"/>
                </a:solidFill>
              </a:rPr>
              <a:t>AI-generated semantic rubric per role  —  near-term source for the course builder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00200"/>
            <a:ext cx="5440680" cy="498348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600200"/>
            <a:ext cx="544068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80ED"/>
                </a:solidFill>
              </a:rPr>
              <a:t>WHAT IT CONTAINS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technicalDomains[]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domain, proficiency, sprintEvidence indicators</a:t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behavioralCompetencies[]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how the role behaves across sprints</a:t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collaborationPatterns[]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expected cross-role interactions</a:t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deliverableTypes[]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artefacts the role produces each sprint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2F80ED"/>
                </a:solidFill>
              </a:rPr>
              <a:t>coursePromptContext</a:t>
            </a:r>
          </a:p>
          <a:p>
            <a:pPr algn="l"/>
            <a:r>
              <a:rPr sz="1100" b="0" i="0">
                <a:solidFill>
                  <a:srgbClr val="2F80ED"/>
                </a:solidFill>
              </a:rPr>
              <a:t>  synthesized paragraph — replaces raw Competencies</a:t>
            </a:r>
          </a:p>
          <a:p>
            <a:pPr algn="l"/>
            <a:r>
              <a:rPr sz="1100" b="0" i="0">
                <a:solidFill>
                  <a:srgbClr val="2F80ED"/>
                </a:solidFill>
              </a:rPr>
              <a:t>  in BuildUserPrompt() via ResolveSkillAsync()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F2994A"/>
                </a:solidFill>
              </a:rPr>
              <a:t>evaluationPrompt</a:t>
            </a:r>
          </a:p>
          <a:p>
            <a:pPr algn="l"/>
            <a:r>
              <a:rPr sz="1100" b="0" i="0">
                <a:solidFill>
                  <a:srgbClr val="F2994A"/>
                </a:solidFill>
              </a:rPr>
              <a:t>  rubric for CandidateSkillScore generation (Phase 4)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 i="0">
                <a:solidFill>
                  <a:srgbClr val="5A6F8A"/>
                </a:solidFill>
              </a:rPr>
              <a:t>GeneratorPromptVersion + IsActive</a:t>
            </a:r>
          </a:p>
          <a:p>
            <a:pPr algn="l"/>
            <a:r>
              <a:rPr sz="1100" b="0" i="0">
                <a:solidFill>
                  <a:srgbClr val="5A6F8A"/>
                </a:solidFill>
              </a:rPr>
              <a:t>  versioned — old skills preserved on regeneration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00200"/>
            <a:ext cx="5852160" cy="233172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600200"/>
            <a:ext cx="585216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737360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80ED"/>
                </a:solidFill>
              </a:rPr>
              <a:t>USE CASE 1 — Course Building (Phase 3)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ResolveSkillAsync() returns coursePromptContext</a:t>
            </a:r>
          </a:p>
          <a:p>
            <a:pPr algn="l"/>
            <a:r>
              <a:rPr sz="1200" b="0" i="0">
                <a:solidFill>
                  <a:srgbClr val="C8D6EA"/>
                </a:solidFill>
              </a:rPr>
              <a:t>as Priority 2 (fallback to raw Competencies if</a:t>
            </a:r>
          </a:p>
          <a:p>
            <a:pPr algn="l"/>
            <a:r>
              <a:rPr sz="1200" b="0" i="0">
                <a:solidFill>
                  <a:srgbClr val="C8D6EA"/>
                </a:solidFill>
              </a:rPr>
              <a:t>no skill generated, superseded by EmployerSkill</a:t>
            </a:r>
          </a:p>
          <a:p>
            <a:pPr algn="l"/>
            <a:r>
              <a:rPr sz="1200" b="0" i="0">
                <a:solidFill>
                  <a:srgbClr val="C8D6EA"/>
                </a:solidFill>
              </a:rPr>
              <a:t>when template has EmployerSkillId set).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5A6F8A"/>
                </a:solidFill>
              </a:rPr>
              <a:t>Zero breaking changes — fallback always preserved.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4160520"/>
            <a:ext cx="5852160" cy="242316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4160520"/>
            <a:ext cx="585216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29768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994A"/>
                </a:solidFill>
              </a:rPr>
              <a:t>USE CASE 2 — Scoring Baseline (Phase 4)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FFFFFF"/>
                </a:solidFill>
              </a:rPr>
              <a:t>evaluationPrompt is passed alongside student</a:t>
            </a:r>
          </a:p>
          <a:p>
            <a:pPr algn="l"/>
            <a:r>
              <a:rPr sz="1200" b="0" i="0">
                <a:solidFill>
                  <a:srgbClr val="C8D6EA"/>
                </a:solidFill>
              </a:rPr>
              <a:t>evidence to the scoring AI.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0" i="0">
                <a:solidFill>
                  <a:srgbClr val="C8D6EA"/>
                </a:solidFill>
              </a:rPr>
              <a:t>CandidateSkillScore records InstituteRoleSkillId</a:t>
            </a:r>
          </a:p>
          <a:p>
            <a:pPr algn="l"/>
            <a:r>
              <a:rPr sz="1200" b="0" i="0">
                <a:solidFill>
                  <a:srgbClr val="C8D6EA"/>
                </a:solidFill>
              </a:rPr>
              <a:t>(version snapshot). Scores from different skill</a:t>
            </a:r>
          </a:p>
          <a:p>
            <a:pPr algn="l"/>
            <a:r>
              <a:rPr sz="1200" b="0" i="0">
                <a:solidFill>
                  <a:srgbClr val="C8D6EA"/>
                </a:solidFill>
              </a:rPr>
              <a:t>versions are not directly comparable.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994A"/>
                </a:solidFill>
              </a:rPr>
              <a:t>SECOND-LEVEL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CandidateSkillScore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155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8D6EA"/>
                </a:solidFill>
              </a:rPr>
              <a:t>AI-scored evidence profile — generated after course completion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00200"/>
            <a:ext cx="3520440" cy="329184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1600200"/>
            <a:ext cx="3520440" cy="54864"/>
          </a:xfrm>
          <a:prstGeom prst="rect">
            <a:avLst/>
          </a:prstGeom>
          <a:solidFill>
            <a:srgbClr val="5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737360"/>
            <a:ext cx="3246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6EA"/>
                </a:solidFill>
              </a:rPr>
              <a:t>INPUT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SprintRoleCardSnapshot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actual board cards</a:t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GitHub activity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commits, PRs, branch discipline</a:t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Board states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sprint completion signals</a:t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Role + track context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Technical / Leadership / 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3017520" cy="329184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3017520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3736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80ED"/>
                </a:solidFill>
              </a:rPr>
              <a:t>RUBRIC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InstituteRoleSkill</a:t>
            </a:r>
          </a:p>
          <a:p>
            <a:pPr algn="l"/>
            <a:r>
              <a:rPr sz="1200" b="0" i="0">
                <a:solidFill>
                  <a:srgbClr val="2F80ED"/>
                </a:solidFill>
              </a:rPr>
              <a:t>.evaluationPrompt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100" b="0" i="1">
                <a:solidFill>
                  <a:srgbClr val="C8D6EA"/>
                </a:solidFill>
              </a:rPr>
              <a:t>For each domain,</a:t>
            </a:r>
          </a:p>
          <a:p>
            <a:pPr algn="l"/>
            <a:r>
              <a:rPr sz="1100" b="0" i="1">
                <a:solidFill>
                  <a:srgbClr val="C8D6EA"/>
                </a:solidFill>
              </a:rPr>
              <a:t>what evidence exists?</a:t>
            </a:r>
          </a:p>
          <a:p>
            <a:pPr algn="l"/>
            <a:r>
              <a:rPr sz="1100" b="0" i="1">
                <a:solidFill>
                  <a:srgbClr val="C8D6EA"/>
                </a:solidFill>
              </a:rPr>
              <a:t>Score 0-1 and explain.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3017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A6F8A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600200"/>
            <a:ext cx="3977639" cy="329184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600200"/>
            <a:ext cx="3977639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3736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994A"/>
                </a:solidFill>
              </a:rPr>
              <a:t>OUTPUT — CandidateSkillScore</a:t>
            </a:r>
          </a:p>
          <a:p>
            <a:pPr algn="l"/>
            <a:r>
              <a:rPr sz="130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score (float 0-1)</a:t>
            </a:r>
          </a:p>
          <a:p>
            <a:pPr algn="l"/>
            <a:r>
              <a:rPr sz="1200" b="1" i="0">
                <a:solidFill>
                  <a:srgbClr val="FFFFFF"/>
                </a:solidFill>
              </a:rPr>
              <a:t>evidenceJson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domain-level breakdown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which outputs drove the score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  gap analysis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InstituteRoleSkillId (versioned)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ScoredAt + ModelVersion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5120640"/>
            <a:ext cx="11704320" cy="1508760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8600" y="5120640"/>
            <a:ext cx="11704320" cy="5486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1937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2994A"/>
                </a:solidFill>
              </a:rPr>
              <a:t>WHEN USED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4864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Employer Matching (Phase 6):  CandidateSkillScore x EmployerSkill  →  ranked list with per-domain explanation + gap analysis</a:t>
            </a:r>
          </a:p>
          <a:p>
            <a:pPr algn="l"/>
            <a:r>
              <a:rPr sz="1100" b="0" i="0">
                <a:solidFill>
                  <a:srgbClr val="C8D6EA"/>
                </a:solidFill>
              </a:rPr>
              <a:t>Institute Analytics:  cohort-level view of which skill domains are strong vs. weak across all students in a squad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4114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80ED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Phased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389888"/>
            <a:ext cx="502920" cy="69494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49961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1389888"/>
            <a:ext cx="11064240" cy="722376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4475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Lock Skill JSON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73936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Freeze the JSON structure shared by InstituteRoleSkill and EmployerSkill. Foundation for all downstream phases.  (This doc = Phase 1 complete.)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" y="2103120"/>
            <a:ext cx="82296" cy="173736"/>
          </a:xfrm>
          <a:prstGeom prst="rect">
            <a:avLst/>
          </a:prstGeom>
          <a:solidFill>
            <a:srgbClr val="5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" y="2276856"/>
            <a:ext cx="502920" cy="69494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238658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2276856"/>
            <a:ext cx="11064240" cy="722376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3317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InstituteRoleSkill Generator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660904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New prompt: Prompts/Skills/InstituteRoleSkillBuilder.txt  |  New endpoint: POST /api/Institutes/roles/{id}/build-skill  |  New model + SQL script: InstituteRoleSkills table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2990088"/>
            <a:ext cx="82296" cy="173736"/>
          </a:xfrm>
          <a:prstGeom prst="rect">
            <a:avLst/>
          </a:prstGeom>
          <a:solidFill>
            <a:srgbClr val="5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8600" y="3163824"/>
            <a:ext cx="502920" cy="694944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8600" y="3273552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3163824"/>
            <a:ext cx="11064240" cy="722376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218688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Wire into Course Builder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547872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Add ResolveSkillAsync() to CourseBoardBuilderService — priority: EmployerSkill &gt; InstituteRoleSkill &gt; raw Competencies.  Update BuildUserPrompt() to use CourseSkillContext.  Zero breaking changes.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3877056"/>
            <a:ext cx="82296" cy="173736"/>
          </a:xfrm>
          <a:prstGeom prst="rect">
            <a:avLst/>
          </a:prstGeom>
          <a:solidFill>
            <a:srgbClr val="5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4050791"/>
            <a:ext cx="502920" cy="694944"/>
          </a:xfrm>
          <a:prstGeom prst="rect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" y="41605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" y="4050791"/>
            <a:ext cx="11064240" cy="722376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10565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CandidateSkillScore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434840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New endpoint: POST /api/Students/{id}/score-skill  |  New prompt: Prompts/Skills/CandidateSkillScorer.txt  |  New model: CandidateSkillScores 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" y="4764024"/>
            <a:ext cx="82296" cy="173736"/>
          </a:xfrm>
          <a:prstGeom prst="rect">
            <a:avLst/>
          </a:prstGeom>
          <a:solidFill>
            <a:srgbClr val="5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4937760"/>
            <a:ext cx="502920" cy="694944"/>
          </a:xfrm>
          <a:prstGeom prst="rect">
            <a:avLst/>
          </a:prstGeom>
          <a:solidFill>
            <a:srgbClr val="27AE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504748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" y="4937760"/>
            <a:ext cx="11064240" cy="722376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9926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EmployerSkill Generator  (parallel with Phase 4)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321808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New prompt: Prompts/Skills/EmployerSkillBuilder.txt  |  New endpoint: POST /api/Employers/{id}/build-skill  |  Add InstituteTemplates.EmployerSkillId FK — activates Priority 1 in resolver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" y="5650992"/>
            <a:ext cx="82296" cy="173736"/>
          </a:xfrm>
          <a:prstGeom prst="rect">
            <a:avLst/>
          </a:prstGeom>
          <a:solidFill>
            <a:srgbClr val="5A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5824727"/>
            <a:ext cx="502920" cy="694944"/>
          </a:xfrm>
          <a:prstGeom prst="rect">
            <a:avLst/>
          </a:prstGeom>
          <a:solidFill>
            <a:srgbClr val="EB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8600" y="5934455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F172A"/>
                </a:solidFill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" y="5824727"/>
            <a:ext cx="11064240" cy="722376"/>
          </a:xfrm>
          <a:prstGeom prst="rect">
            <a:avLst/>
          </a:prstGeom>
          <a:solidFill>
            <a:srgbClr val="18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5879591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Matching Engine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6208775"/>
            <a:ext cx="10698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8D6EA"/>
                </a:solidFill>
              </a:rPr>
              <a:t>POST /api/Employers/{id}/match-candidates  |  EmployerSkill x CandidateSkillScore  →  ranked list + explanation.  New table: EmployerCandidateScores (replaces binary EmployerCandidates)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
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D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0" y="0"/>
            <a:ext cx="64008" cy="6858000"/>
          </a:xfrm>
          <a:prstGeom prst="rect">
            <a:avLst/>
          </a:prstGeom>
          <a:solidFill>
            <a:srgbClr val="12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93208" y="6309360"/>
            <a:ext cx="7095744" cy="5486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4008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2A880"/>
                </a:solidFill>
              </a:rPr>
              <a:t>StrAppers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143000"/>
            <a:ext cx="4389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</a:rPr>
              <a:t>Every Candidate
Comes with a
Performance Record.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3383280"/>
            <a:ext cx="1005840" cy="54864"/>
          </a:xfrm>
          <a:prstGeom prst="rect">
            <a:avLst/>
          </a:prstGeom>
          <a:solidFill>
            <a:srgbClr val="12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35661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0DAE8"/>
                </a:solidFill>
              </a:rPr>
              <a:t>Not a CV. Not a grade.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3931920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8 weeks of real project evidence
across 40+ measurable signals.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470916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5"/>
                </a:solidFill>
              </a:rPr>
              <a:t>Every metric is captured automatically.
No self-reporting. No bias.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635508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8A9BB5"/>
                </a:solidFill>
              </a:rPr>
              <a:t>StrAppers Platform  |  Candidate Intelligence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1371600"/>
            <a:ext cx="2057400" cy="3200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94960" y="1371600"/>
            <a:ext cx="2057400" cy="64008"/>
          </a:xfrm>
          <a:prstGeom prst="rect">
            <a:avLst/>
          </a:prstGeom>
          <a:solidFill>
            <a:srgbClr val="1A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04688" y="15544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0D1B38"/>
                </a:solidFill>
              </a:rPr>
              <a:t>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04688" y="25603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38"/>
                </a:solidFill>
              </a:rPr>
              <a:t>Hard Skill
Metrics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04688" y="32004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8A9BB5"/>
                </a:solidFill>
              </a:rPr>
              <a:t>code, delivery, output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1371600"/>
            <a:ext cx="2057400" cy="3200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35240" y="1371600"/>
            <a:ext cx="2057400" cy="64008"/>
          </a:xfrm>
          <a:prstGeom prst="rect">
            <a:avLst/>
          </a:prstGeom>
          <a:solidFill>
            <a:srgbClr val="12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15544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0D1B38"/>
                </a:solidFill>
              </a:rPr>
              <a:t>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25603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38"/>
                </a:solidFill>
              </a:rPr>
              <a:t>Soft Skill
Metrics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44968" y="32004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8A9BB5"/>
                </a:solidFill>
              </a:rPr>
              <a:t>behavior, communication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75520" y="1371600"/>
            <a:ext cx="2057400" cy="3200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875520" y="1371600"/>
            <a:ext cx="2057400" cy="64008"/>
          </a:xfrm>
          <a:prstGeom prst="rect">
            <a:avLst/>
          </a:prstGeom>
          <a:solidFill>
            <a:srgbClr val="1A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85248" y="15544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0D1B38"/>
                </a:solidFill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85248" y="25603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38"/>
                </a:solidFill>
              </a:rPr>
              <a:t>Sprint
Checkpoints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85248" y="32004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8A9BB5"/>
                </a:solidFill>
              </a:rPr>
              <a:t>independent data points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60" y="638251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A9BB5"/>
                </a:solidFill>
              </a:rPr>
              <a:t>Objective  •  Sprint-by-sprint  •  Role-specific  •  Automatically captured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66360" y="4846320"/>
            <a:ext cx="6858000" cy="12801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66360" y="4846320"/>
            <a:ext cx="6858000" cy="45720"/>
          </a:xfrm>
          <a:prstGeom prst="rect">
            <a:avLst/>
          </a:prstGeom>
          <a:solidFill>
            <a:srgbClr val="8A9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0" y="4892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A9BB5"/>
                </a:solidFill>
              </a:rPr>
              <a:t>DATA SOURCES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85232" y="5266944"/>
            <a:ext cx="73152" cy="128016"/>
          </a:xfrm>
          <a:prstGeom prst="rect">
            <a:avLst/>
          </a:prstGeom>
          <a:solidFill>
            <a:srgbClr val="24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94960" y="5230368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A62"/>
                </a:solidFill>
              </a:rPr>
              <a:t>GitHub: Code commits, builds, PRs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85232" y="5541264"/>
            <a:ext cx="73152" cy="128016"/>
          </a:xfrm>
          <a:prstGeom prst="rect">
            <a:avLst/>
          </a:prstGeom>
          <a:solidFill>
            <a:srgbClr val="0E6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4960" y="5504688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A62"/>
                </a:solidFill>
              </a:rPr>
              <a:t>Mentor Chat: AI mentor conversations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85232" y="5815583"/>
            <a:ext cx="73152" cy="128016"/>
          </a:xfrm>
          <a:prstGeom prst="rect">
            <a:avLst/>
          </a:prstGeom>
          <a:solidFill>
            <a:srgbClr val="5A1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94960" y="5779007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A62"/>
                </a:solidFill>
              </a:rPr>
              <a:t>Customer Chat: Simulated client interactions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71232" y="5266944"/>
            <a:ext cx="73152" cy="128016"/>
          </a:xfrm>
          <a:prstGeom prst="rect">
            <a:avLst/>
          </a:prstGeom>
          <a:solidFill>
            <a:srgbClr val="2E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80960" y="5230368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A62"/>
                </a:solidFill>
              </a:rPr>
              <a:t>Peer Chat: Private student-to-student messages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71232" y="5541264"/>
            <a:ext cx="73152" cy="128016"/>
          </a:xfrm>
          <a:prstGeom prst="rect">
            <a:avLst/>
          </a:prstGeom>
          <a:solidFill>
            <a:srgbClr val="0A5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0" y="5504688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A62"/>
                </a:solidFill>
              </a:rPr>
              <a:t>Gap Analysis: AI sprint completion scoring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71232" y="5815583"/>
            <a:ext cx="73152" cy="128016"/>
          </a:xfrm>
          <a:prstGeom prst="rect">
            <a:avLst/>
          </a:prstGeom>
          <a:solidFill>
            <a:srgbClr val="7A4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0" y="5779007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A62"/>
                </a:solidFill>
              </a:rPr>
              <a:t>Meetings: Attendance &amp; punctuality data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857232" y="5266944"/>
            <a:ext cx="73152" cy="128016"/>
          </a:xfrm>
          <a:prstGeom prst="rect">
            <a:avLst/>
          </a:prstGeom>
          <a:solidFill>
            <a:srgbClr val="1A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66960" y="5230368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A62"/>
                </a:solidFill>
              </a:rPr>
              <a:t>Deliverables: Live URLs, demos, documentation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57232" y="5541264"/>
            <a:ext cx="73152" cy="128016"/>
          </a:xfrm>
          <a:prstGeom prst="rect">
            <a:avLst/>
          </a:prstGeom>
          <a:solidFill>
            <a:srgbClr val="1A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66960" y="5504688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A62"/>
                </a:solidFill>
              </a:rPr>
              <a:t>Skill Rubric: Match vs. role skill specification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857232" y="5815583"/>
            <a:ext cx="73152" cy="128016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966960" y="5779007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A62"/>
                </a:solidFill>
              </a:rPr>
              <a:t>New Sensor: Student self-explanations (planned)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1A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91440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Hard Skills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548640"/>
            <a:ext cx="9144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0DAE8"/>
                </a:solidFill>
              </a:rPr>
              <a:t>Technical output, delivery evidence, and role-specific proficiency — captured automatically every sprint.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06424"/>
            <a:ext cx="256032" cy="256032"/>
          </a:xfrm>
          <a:prstGeom prst="rect">
            <a:avLst/>
          </a:prstGeom>
          <a:solidFill>
            <a:srgbClr val="1A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0642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06984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38"/>
                </a:solidFill>
              </a:rPr>
              <a:t>Sprint Delivery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28016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A4A62"/>
                </a:solidFill>
              </a:rPr>
              <a:t>% of sprints merged on time across the full 8-week project — 8 independent deadline measurements.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" y="1499616"/>
            <a:ext cx="804672" cy="201168"/>
          </a:xfrm>
          <a:prstGeom prst="rect">
            <a:avLst/>
          </a:prstGeom>
          <a:solidFill>
            <a:srgbClr val="CC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52704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6FD4"/>
                </a:solidFill>
              </a:rPr>
              <a:t>Sprints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90472" y="1499616"/>
            <a:ext cx="804672" cy="201168"/>
          </a:xfrm>
          <a:prstGeom prst="rect">
            <a:avLst/>
          </a:prstGeom>
          <a:solidFill>
            <a:srgbClr val="D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45336" y="152704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4292F"/>
                </a:solidFill>
              </a:rPr>
              <a:t>GitHub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" y="1321308"/>
            <a:ext cx="5715000" cy="297180"/>
          </a:xfrm>
          <a:prstGeom prst="rect">
            <a:avLst/>
          </a:prstGeom>
          <a:solidFill>
            <a:srgbClr val="F9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1403604"/>
            <a:ext cx="256032" cy="256032"/>
          </a:xfrm>
          <a:prstGeom prst="rect">
            <a:avLst/>
          </a:prstGeom>
          <a:solidFill>
            <a:srgbClr val="1A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140360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136702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38"/>
                </a:solidFill>
              </a:rPr>
              <a:t>Build Success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157734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A4A62"/>
                </a:solidFill>
              </a:rPr>
              <a:t>Pass/fail ratio of automated code builds per sprint. Trend over time reveals learning velocity.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" y="1796796"/>
            <a:ext cx="1069848" cy="201168"/>
          </a:xfrm>
          <a:prstGeom prst="rect">
            <a:avLst/>
          </a:prstGeom>
          <a:solidFill>
            <a:srgbClr val="FFE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" y="1824228"/>
            <a:ext cx="99669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A3A00"/>
                </a:solidFill>
              </a:rPr>
              <a:t>Build System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1700784"/>
            <a:ext cx="256032" cy="256032"/>
          </a:xfrm>
          <a:prstGeom prst="rect">
            <a:avLst/>
          </a:prstGeom>
          <a:solidFill>
            <a:srgbClr val="1A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17007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166420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38"/>
                </a:solidFill>
              </a:rPr>
              <a:t>Pull Request Completion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1874519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A4A62"/>
                </a:solidFill>
              </a:rPr>
              <a:t>Branches opened, reviewed, and merged per sprint via the platform's mandatory PR workflow.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" y="2093976"/>
            <a:ext cx="804672" cy="201168"/>
          </a:xfrm>
          <a:prstGeom prst="rect">
            <a:avLst/>
          </a:prstGeom>
          <a:solidFill>
            <a:srgbClr val="D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" y="212140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4292F"/>
                </a:solidFill>
              </a:rPr>
              <a:t>GitHub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1168" y="1915668"/>
            <a:ext cx="5715000" cy="297180"/>
          </a:xfrm>
          <a:prstGeom prst="rect">
            <a:avLst/>
          </a:prstGeom>
          <a:solidFill>
            <a:srgbClr val="F9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1997964"/>
            <a:ext cx="256032" cy="256032"/>
          </a:xfrm>
          <a:prstGeom prst="rect">
            <a:avLst/>
          </a:prstGeom>
          <a:solidFill>
            <a:srgbClr val="1A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199796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196138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38"/>
                </a:solidFill>
              </a:rPr>
              <a:t>Gap Analysis Score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" y="217170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A4A62"/>
                </a:solidFill>
              </a:rPr>
              <a:t>AI-assessed completion score (0–100) per sprint module vs. defined requirements. Normalised across roles.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" y="2391156"/>
            <a:ext cx="1069848" cy="201168"/>
          </a:xfrm>
          <a:prstGeom prst="rect">
            <a:avLst/>
          </a:prstGeom>
          <a:solidFill>
            <a:srgbClr val="CC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" y="2418588"/>
            <a:ext cx="99669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A529E"/>
                </a:solidFill>
              </a:rPr>
              <a:t>Gap Analysis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755648" y="2391156"/>
            <a:ext cx="1069848" cy="201168"/>
          </a:xfrm>
          <a:prstGeom prst="rect">
            <a:avLst/>
          </a:prstGeom>
          <a:solidFill>
            <a:srgbClr val="BB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810512" y="2418588"/>
            <a:ext cx="99669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6FD4"/>
                </a:solidFill>
              </a:rPr>
              <a:t>Skill Rubric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2295144"/>
            <a:ext cx="256032" cy="256032"/>
          </a:xfrm>
          <a:prstGeom prst="rect">
            <a:avLst/>
          </a:prstGeom>
          <a:solidFill>
            <a:srgbClr val="1A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229514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" y="225856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38"/>
                </a:solidFill>
              </a:rPr>
              <a:t>Error Recovery Speed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" y="246888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A4A62"/>
                </a:solidFill>
              </a:rPr>
              <a:t>Time elapsed between a failed build or logged bug and the next successful build. Measures debugging agility.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" y="2688336"/>
            <a:ext cx="1069848" cy="201168"/>
          </a:xfrm>
          <a:prstGeom prst="rect">
            <a:avLst/>
          </a:prstGeom>
          <a:solidFill>
            <a:srgbClr val="FFE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512" y="2715768"/>
            <a:ext cx="99669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A3A00"/>
                </a:solidFill>
              </a:rPr>
              <a:t>Build System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755648" y="2688336"/>
            <a:ext cx="804672" cy="201168"/>
          </a:xfrm>
          <a:prstGeom prst="rect">
            <a:avLst/>
          </a:prstGeom>
          <a:solidFill>
            <a:srgbClr val="D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810512" y="271576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4292F"/>
                </a:solidFill>
              </a:rPr>
              <a:t>GitHub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1168" y="2510028"/>
            <a:ext cx="5715000" cy="297180"/>
          </a:xfrm>
          <a:prstGeom prst="rect">
            <a:avLst/>
          </a:prstGeom>
          <a:solidFill>
            <a:srgbClr val="F9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74320" y="2592324"/>
            <a:ext cx="256032" cy="256032"/>
          </a:xfrm>
          <a:prstGeom prst="rect">
            <a:avLst/>
          </a:prstGeom>
          <a:solidFill>
            <a:srgbClr val="1A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259232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2648" y="255574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38"/>
                </a:solidFill>
              </a:rPr>
              <a:t>Code Commit Consistency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2648" y="276606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A4A62"/>
                </a:solidFill>
              </a:rPr>
              <a:t>Distribution of commits across sprint days — identifies end-of-week dumping vs. steady daily progress.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2648" y="2985516"/>
            <a:ext cx="804672" cy="201168"/>
          </a:xfrm>
          <a:prstGeom prst="rect">
            <a:avLst/>
          </a:prstGeom>
          <a:solidFill>
            <a:srgbClr val="D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7512" y="301294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4292F"/>
                </a:solidFill>
              </a:rPr>
              <a:t>GitHub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2889504"/>
            <a:ext cx="256032" cy="256032"/>
          </a:xfrm>
          <a:prstGeom prst="rect">
            <a:avLst/>
          </a:prstGeom>
          <a:solidFill>
            <a:srgbClr val="1A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288950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648" y="285292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38"/>
                </a:solidFill>
              </a:rPr>
              <a:t>Version Control Discipline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2648" y="306324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A4A62"/>
                </a:solidFill>
              </a:rPr>
              <a:t>Correct branch naming (N-B/N-F), no direct pushes to main, clean PR descriptions every sprint.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2648" y="3282696"/>
            <a:ext cx="804672" cy="201168"/>
          </a:xfrm>
          <a:prstGeom prst="rect">
            <a:avLst/>
          </a:prstGeom>
          <a:solidFill>
            <a:srgbClr val="D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7512" y="331012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4292F"/>
                </a:solidFill>
              </a:rPr>
              <a:t>GitHub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01168" y="3104388"/>
            <a:ext cx="5715000" cy="297180"/>
          </a:xfrm>
          <a:prstGeom prst="rect">
            <a:avLst/>
          </a:prstGeom>
          <a:solidFill>
            <a:srgbClr val="F9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74320" y="3186684"/>
            <a:ext cx="256032" cy="256032"/>
          </a:xfrm>
          <a:prstGeom prst="rect">
            <a:avLst/>
          </a:prstGeom>
          <a:solidFill>
            <a:srgbClr val="1A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4320" y="31866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2648" y="315010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38"/>
                </a:solidFill>
              </a:rPr>
              <a:t>Bug Resolution Rate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2648" y="336042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A4A62"/>
                </a:solidFill>
              </a:rPr>
              <a:t>Bugs logged vs. closed per sprint. Includes time-to-fix and whether fix held across subsequent sprints.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2648" y="3579876"/>
            <a:ext cx="1069848" cy="201168"/>
          </a:xfrm>
          <a:prstGeom prst="rect">
            <a:avLst/>
          </a:prstGeom>
          <a:solidFill>
            <a:srgbClr val="FFE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" y="3607308"/>
            <a:ext cx="99669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A3A00"/>
                </a:solidFill>
              </a:rPr>
              <a:t>Build System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755648" y="3579876"/>
            <a:ext cx="804672" cy="201168"/>
          </a:xfrm>
          <a:prstGeom prst="rect">
            <a:avLst/>
          </a:prstGeom>
          <a:solidFill>
            <a:srgbClr val="CC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810512" y="360730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6FD4"/>
                </a:solidFill>
              </a:rPr>
              <a:t>Sprints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3483864"/>
            <a:ext cx="256032" cy="256032"/>
          </a:xfrm>
          <a:prstGeom prst="rect">
            <a:avLst/>
          </a:prstGeom>
          <a:solidFill>
            <a:srgbClr val="1A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74320" y="348386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2648" y="344728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38"/>
                </a:solidFill>
              </a:rPr>
              <a:t>Code Review Quality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2648" y="365760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A4A62"/>
                </a:solidFill>
              </a:rPr>
              <a:t>Mentor PR review scores and feedback content per sprint — covers readability, security, and logic.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12648" y="3877056"/>
            <a:ext cx="992124" cy="201168"/>
          </a:xfrm>
          <a:prstGeom prst="rect">
            <a:avLst/>
          </a:prstGeom>
          <a:solidFill>
            <a:srgbClr val="C2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" y="3904488"/>
            <a:ext cx="91897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E6E55"/>
                </a:solidFill>
              </a:rPr>
              <a:t>Mentor Chat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677924" y="3877056"/>
            <a:ext cx="804672" cy="201168"/>
          </a:xfrm>
          <a:prstGeom prst="rect">
            <a:avLst/>
          </a:prstGeom>
          <a:solidFill>
            <a:srgbClr val="D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732788" y="390448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4292F"/>
                </a:solidFill>
              </a:rPr>
              <a:t>GitHub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01168" y="3698748"/>
            <a:ext cx="5715000" cy="297180"/>
          </a:xfrm>
          <a:prstGeom prst="rect">
            <a:avLst/>
          </a:prstGeom>
          <a:solidFill>
            <a:srgbClr val="F9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74320" y="3781044"/>
            <a:ext cx="256032" cy="256032"/>
          </a:xfrm>
          <a:prstGeom prst="rect">
            <a:avLst/>
          </a:prstGeom>
          <a:solidFill>
            <a:srgbClr val="1A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74320" y="378104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2648" y="374446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38"/>
                </a:solidFill>
              </a:rPr>
              <a:t>API &amp; Deployment Completeness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2648" y="395478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A4A62"/>
                </a:solidFill>
              </a:rPr>
              <a:t>Live API URL, frontend deployment, and health endpoints verified — not just claimed, but running.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2648" y="4174235"/>
            <a:ext cx="1069848" cy="201168"/>
          </a:xfrm>
          <a:prstGeom prst="rect">
            <a:avLst/>
          </a:prstGeom>
          <a:solidFill>
            <a:srgbClr val="CC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67512" y="4201668"/>
            <a:ext cx="99669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6FD4"/>
                </a:solidFill>
              </a:rPr>
              <a:t>Deliverables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755648" y="4174235"/>
            <a:ext cx="1069848" cy="201168"/>
          </a:xfrm>
          <a:prstGeom prst="rect">
            <a:avLst/>
          </a:prstGeom>
          <a:solidFill>
            <a:srgbClr val="FFE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810512" y="4201668"/>
            <a:ext cx="99669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A3A00"/>
                </a:solidFill>
              </a:rPr>
              <a:t>Build System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355080" y="1106424"/>
            <a:ext cx="256032" cy="256032"/>
          </a:xfrm>
          <a:prstGeom prst="rect">
            <a:avLst/>
          </a:prstGeom>
          <a:solidFill>
            <a:srgbClr val="1A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355080" y="110642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693408" y="106984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38"/>
                </a:solidFill>
              </a:rPr>
              <a:t>Customer Requirement Coverage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693408" y="128016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A4A62"/>
                </a:solidFill>
              </a:rPr>
              <a:t>AI comparison of what the customer stated in chat vs. what was actually delivered in the sprint.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693408" y="1499616"/>
            <a:ext cx="1147572" cy="201168"/>
          </a:xfrm>
          <a:prstGeom prst="rect">
            <a:avLst/>
          </a:prstGeom>
          <a:solidFill>
            <a:srgbClr val="E8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748272" y="1527048"/>
            <a:ext cx="107441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A1A8A"/>
                </a:solidFill>
              </a:rPr>
              <a:t>Customer Chat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914132" y="1499616"/>
            <a:ext cx="1069848" cy="201168"/>
          </a:xfrm>
          <a:prstGeom prst="rect">
            <a:avLst/>
          </a:prstGeom>
          <a:solidFill>
            <a:srgbClr val="CC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968996" y="1527048"/>
            <a:ext cx="99669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A529E"/>
                </a:solidFill>
              </a:rPr>
              <a:t>Gap Analysis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281928" y="1321308"/>
            <a:ext cx="5715000" cy="297180"/>
          </a:xfrm>
          <a:prstGeom prst="rect">
            <a:avLst/>
          </a:prstGeom>
          <a:solidFill>
            <a:srgbClr val="F9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355080" y="1403604"/>
            <a:ext cx="256032" cy="256032"/>
          </a:xfrm>
          <a:prstGeom prst="rect">
            <a:avLst/>
          </a:prstGeom>
          <a:solidFill>
            <a:srgbClr val="1A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355080" y="140360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693408" y="136702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38"/>
                </a:solidFill>
              </a:rPr>
              <a:t>Database Schema Quality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693408" y="157734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A4A62"/>
                </a:solidFill>
              </a:rPr>
              <a:t>Schema artifact submitted, versioned, and reviewed — assessed against role skill rubric for data modelling.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693408" y="1796796"/>
            <a:ext cx="1069848" cy="201168"/>
          </a:xfrm>
          <a:prstGeom prst="rect">
            <a:avLst/>
          </a:prstGeom>
          <a:solidFill>
            <a:srgbClr val="CC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748272" y="1824228"/>
            <a:ext cx="99669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6FD4"/>
                </a:solidFill>
              </a:rPr>
              <a:t>Deliverables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836408" y="1796796"/>
            <a:ext cx="1069848" cy="201168"/>
          </a:xfrm>
          <a:prstGeom prst="rect">
            <a:avLst/>
          </a:prstGeom>
          <a:solidFill>
            <a:srgbClr val="BB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891272" y="1824228"/>
            <a:ext cx="99669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6FD4"/>
                </a:solidFill>
              </a:rPr>
              <a:t>Skill Rubric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355080" y="1700784"/>
            <a:ext cx="256032" cy="256032"/>
          </a:xfrm>
          <a:prstGeom prst="rect">
            <a:avLst/>
          </a:prstGeom>
          <a:solidFill>
            <a:srgbClr val="1A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355080" y="17007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693408" y="166420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38"/>
                </a:solidFill>
              </a:rPr>
              <a:t>Documentation Completeness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693408" y="1874519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A4A62"/>
                </a:solidFill>
              </a:rPr>
              <a:t>Submission rate of required artefacts: DB schema, collection journey, presentation, demo video per sprint.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693408" y="2093976"/>
            <a:ext cx="1069848" cy="201168"/>
          </a:xfrm>
          <a:prstGeom prst="rect">
            <a:avLst/>
          </a:prstGeom>
          <a:solidFill>
            <a:srgbClr val="CC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748272" y="2121408"/>
            <a:ext cx="99669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6FD4"/>
                </a:solidFill>
              </a:rPr>
              <a:t>Deliverables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281928" y="1915668"/>
            <a:ext cx="5715000" cy="297180"/>
          </a:xfrm>
          <a:prstGeom prst="rect">
            <a:avLst/>
          </a:prstGeom>
          <a:solidFill>
            <a:srgbClr val="F9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6355080" y="1997964"/>
            <a:ext cx="256032" cy="256032"/>
          </a:xfrm>
          <a:prstGeom prst="rect">
            <a:avLst/>
          </a:prstGeom>
          <a:solidFill>
            <a:srgbClr val="1A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355080" y="199796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693408" y="196138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38"/>
                </a:solidFill>
              </a:rPr>
              <a:t>Stakeholder Alignment Score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693408" y="217170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A4A62"/>
                </a:solidFill>
              </a:rPr>
              <a:t>Numerical score tracking how accurately the student mapped stakeholder requirements to deliverables.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693408" y="2391156"/>
            <a:ext cx="1069848" cy="201168"/>
          </a:xfrm>
          <a:prstGeom prst="rect">
            <a:avLst/>
          </a:prstGeom>
          <a:solidFill>
            <a:srgbClr val="CC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748272" y="2418588"/>
            <a:ext cx="99669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A529E"/>
                </a:solidFill>
              </a:rPr>
              <a:t>Gap Analysis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836408" y="2391156"/>
            <a:ext cx="1147572" cy="201168"/>
          </a:xfrm>
          <a:prstGeom prst="rect">
            <a:avLst/>
          </a:prstGeom>
          <a:solidFill>
            <a:srgbClr val="E8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891272" y="2418588"/>
            <a:ext cx="107441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A1A8A"/>
                </a:solidFill>
              </a:rPr>
              <a:t>Customer Chat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355080" y="2295144"/>
            <a:ext cx="256032" cy="256032"/>
          </a:xfrm>
          <a:prstGeom prst="rect">
            <a:avLst/>
          </a:prstGeom>
          <a:solidFill>
            <a:srgbClr val="1A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355080" y="229514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693408" y="225856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38"/>
                </a:solidFill>
              </a:rPr>
              <a:t>Design Iteration Depth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693408" y="246888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A4A62"/>
                </a:solidFill>
              </a:rPr>
              <a:t>Number of meaningful Figma revisions per sprint. Measures refinement behaviour, not just first-draft output.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693408" y="2688336"/>
            <a:ext cx="804672" cy="201168"/>
          </a:xfrm>
          <a:prstGeom prst="rect">
            <a:avLst/>
          </a:prstGeom>
          <a:solidFill>
            <a:srgbClr val="EA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748272" y="271576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A2F8A"/>
                </a:solidFill>
              </a:rPr>
              <a:t>Design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571232" y="2688336"/>
            <a:ext cx="1069848" cy="201168"/>
          </a:xfrm>
          <a:prstGeom prst="rect">
            <a:avLst/>
          </a:prstGeom>
          <a:solidFill>
            <a:srgbClr val="CC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626096" y="2715768"/>
            <a:ext cx="99669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6FD4"/>
                </a:solidFill>
              </a:rPr>
              <a:t>Deliverables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281928" y="2510028"/>
            <a:ext cx="5715000" cy="297180"/>
          </a:xfrm>
          <a:prstGeom prst="rect">
            <a:avLst/>
          </a:prstGeom>
          <a:solidFill>
            <a:srgbClr val="F9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6355080" y="2592324"/>
            <a:ext cx="256032" cy="256032"/>
          </a:xfrm>
          <a:prstGeom prst="rect">
            <a:avLst/>
          </a:prstGeom>
          <a:solidFill>
            <a:srgbClr val="1A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355080" y="259232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693408" y="255574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38"/>
                </a:solidFill>
              </a:rPr>
              <a:t>Sprint Planning Accuracy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693408" y="276606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A4A62"/>
                </a:solidFill>
              </a:rPr>
              <a:t>Planned sprint scope vs. actual delivery — identifies over-committers and under-committers across 8 sprints.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693408" y="2985516"/>
            <a:ext cx="804672" cy="201168"/>
          </a:xfrm>
          <a:prstGeom prst="rect">
            <a:avLst/>
          </a:prstGeom>
          <a:solidFill>
            <a:srgbClr val="CC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748272" y="301294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6FD4"/>
                </a:solidFill>
              </a:rPr>
              <a:t>Sprints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571232" y="2985516"/>
            <a:ext cx="1069848" cy="201168"/>
          </a:xfrm>
          <a:prstGeom prst="rect">
            <a:avLst/>
          </a:prstGeom>
          <a:solidFill>
            <a:srgbClr val="CC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7626096" y="3012948"/>
            <a:ext cx="99669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A529E"/>
                </a:solidFill>
              </a:rPr>
              <a:t>Gap Analysis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355080" y="2889504"/>
            <a:ext cx="256032" cy="256032"/>
          </a:xfrm>
          <a:prstGeom prst="rect">
            <a:avLst/>
          </a:prstGeom>
          <a:solidFill>
            <a:srgbClr val="1A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355080" y="288950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693408" y="285292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38"/>
                </a:solidFill>
              </a:rPr>
              <a:t>Skill Rubric Match Score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693408" y="306324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A4A62"/>
                </a:solidFill>
              </a:rPr>
              <a:t>AI score of student output against the pre-defined role skill specification — domain-level breakdown.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6693408" y="3282696"/>
            <a:ext cx="1069848" cy="201168"/>
          </a:xfrm>
          <a:prstGeom prst="rect">
            <a:avLst/>
          </a:prstGeom>
          <a:solidFill>
            <a:srgbClr val="BB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748272" y="3310128"/>
            <a:ext cx="99669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6FD4"/>
                </a:solidFill>
              </a:rPr>
              <a:t>Skill Rubric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836408" y="3282696"/>
            <a:ext cx="1069848" cy="201168"/>
          </a:xfrm>
          <a:prstGeom prst="rect">
            <a:avLst/>
          </a:prstGeom>
          <a:solidFill>
            <a:srgbClr val="CC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7891272" y="3310128"/>
            <a:ext cx="99669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A529E"/>
                </a:solidFill>
              </a:rPr>
              <a:t>Gap Analysis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281928" y="3104388"/>
            <a:ext cx="5715000" cy="297180"/>
          </a:xfrm>
          <a:prstGeom prst="rect">
            <a:avLst/>
          </a:prstGeom>
          <a:solidFill>
            <a:srgbClr val="F9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6355080" y="3186684"/>
            <a:ext cx="256032" cy="256032"/>
          </a:xfrm>
          <a:prstGeom prst="rect">
            <a:avLst/>
          </a:prstGeom>
          <a:solidFill>
            <a:srgbClr val="1A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6355080" y="31866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693408" y="315010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38"/>
                </a:solidFill>
              </a:rPr>
              <a:t>Resource Utilisation Rate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693408" y="336042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A4A62"/>
                </a:solidFill>
              </a:rPr>
              <a:t>External tools, references, and documentation links created per sprint — signals self-directed learning.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6693408" y="3579876"/>
            <a:ext cx="1069848" cy="201168"/>
          </a:xfrm>
          <a:prstGeom prst="rect">
            <a:avLst/>
          </a:prstGeom>
          <a:solidFill>
            <a:srgbClr val="CC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6748272" y="3607308"/>
            <a:ext cx="99669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6FD4"/>
                </a:solidFill>
              </a:rPr>
              <a:t>Deliverables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6355080" y="3483864"/>
            <a:ext cx="256032" cy="256032"/>
          </a:xfrm>
          <a:prstGeom prst="rect">
            <a:avLst/>
          </a:prstGeom>
          <a:solidFill>
            <a:srgbClr val="1A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6355080" y="348386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19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693408" y="344728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38"/>
                </a:solidFill>
              </a:rPr>
              <a:t>Role-Specific Deliverable Rate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693408" y="365760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A4A62"/>
                </a:solidFill>
              </a:rPr>
              <a:t>Completion of role-mandatory outputs each sprint (e.g., user story for PM, wireframes for UX, tests for BE).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6693408" y="3877056"/>
            <a:ext cx="1069848" cy="201168"/>
          </a:xfrm>
          <a:prstGeom prst="rect">
            <a:avLst/>
          </a:prstGeom>
          <a:solidFill>
            <a:srgbClr val="BB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6748272" y="3904488"/>
            <a:ext cx="99669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6FD4"/>
                </a:solidFill>
              </a:rPr>
              <a:t>Skill Rubric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7836408" y="3877056"/>
            <a:ext cx="804672" cy="201168"/>
          </a:xfrm>
          <a:prstGeom prst="rect">
            <a:avLst/>
          </a:prstGeom>
          <a:solidFill>
            <a:srgbClr val="CC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7891272" y="390448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6FD4"/>
                </a:solidFill>
              </a:rPr>
              <a:t>Sprints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281928" y="3698748"/>
            <a:ext cx="5715000" cy="297180"/>
          </a:xfrm>
          <a:prstGeom prst="rect">
            <a:avLst/>
          </a:prstGeom>
          <a:solidFill>
            <a:srgbClr val="F9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355080" y="3781044"/>
            <a:ext cx="256032" cy="256032"/>
          </a:xfrm>
          <a:prstGeom prst="rect">
            <a:avLst/>
          </a:prstGeom>
          <a:solidFill>
            <a:srgbClr val="1A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355080" y="378104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6693408" y="374446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38"/>
                </a:solidFill>
              </a:rPr>
              <a:t>Self-Explanation Accuracy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693408" y="395478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A4A62"/>
                </a:solidFill>
              </a:rPr>
              <a:t>Student's written sprint rationale (new sensor) assessed by AI for technical accuracy vs. actual output.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6693408" y="4174235"/>
            <a:ext cx="914400" cy="201168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748272" y="4201668"/>
            <a:ext cx="8412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B1A1A"/>
                </a:solidFill>
              </a:rPr>
              <a:t>New Sensor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7680960" y="4174235"/>
            <a:ext cx="1069848" cy="201168"/>
          </a:xfrm>
          <a:prstGeom prst="rect">
            <a:avLst/>
          </a:prstGeom>
          <a:solidFill>
            <a:srgbClr val="BB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7735824" y="4201668"/>
            <a:ext cx="99669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6FD4"/>
                </a:solidFill>
              </a:rPr>
              <a:t>Skill Rubric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035040" y="987552"/>
            <a:ext cx="54864" cy="580644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E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274320" y="6757416"/>
            <a:ext cx="1161288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A9BB5"/>
                </a:solidFill>
              </a:rPr>
              <a:t>* New Sensor = student self-explanation input (planned addition)   |   Skill Rubric = match against pre-defined role specification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12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91440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Soft Skills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548640"/>
            <a:ext cx="10058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0DAE8"/>
                </a:solidFill>
              </a:rPr>
              <a:t>Behavioural patterns, communication quality, and professional conduct — observed across every sprint interaction.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06424"/>
            <a:ext cx="256032" cy="256032"/>
          </a:xfrm>
          <a:prstGeom prst="rect">
            <a:avLst/>
          </a:prstGeom>
          <a:solidFill>
            <a:srgbClr val="12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0642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06984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38"/>
                </a:solidFill>
              </a:rPr>
              <a:t>Attendance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28016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A4A62"/>
                </a:solidFill>
              </a:rPr>
              <a:t>% of all scheduled sessions attended across the 8-week project — tracked per student, per meeting.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" y="1499616"/>
            <a:ext cx="804672" cy="201168"/>
          </a:xfrm>
          <a:prstGeom prst="rect">
            <a:avLst/>
          </a:prstGeom>
          <a:solidFill>
            <a:srgbClr val="FFF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52704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A4A00"/>
                </a:solidFill>
              </a:rPr>
              <a:t>Meetings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1321308"/>
            <a:ext cx="5715000" cy="297180"/>
          </a:xfrm>
          <a:prstGeom prst="rect">
            <a:avLst/>
          </a:prstGeom>
          <a:solidFill>
            <a:srgbClr val="F9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1403604"/>
            <a:ext cx="256032" cy="256032"/>
          </a:xfrm>
          <a:prstGeom prst="rect">
            <a:avLst/>
          </a:prstGeom>
          <a:solidFill>
            <a:srgbClr val="12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140360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136702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38"/>
                </a:solidFill>
              </a:rPr>
              <a:t>Punctuality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157734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A4A62"/>
                </a:solidFill>
              </a:rPr>
              <a:t>Delta between scheduled meeting time and actual join time — consistent across all sprint ceremonies.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" y="1796796"/>
            <a:ext cx="804672" cy="201168"/>
          </a:xfrm>
          <a:prstGeom prst="rect">
            <a:avLst/>
          </a:prstGeom>
          <a:solidFill>
            <a:srgbClr val="FFF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182422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A4A00"/>
                </a:solidFill>
              </a:rPr>
              <a:t>Meetings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700784"/>
            <a:ext cx="256032" cy="256032"/>
          </a:xfrm>
          <a:prstGeom prst="rect">
            <a:avLst/>
          </a:prstGeom>
          <a:solidFill>
            <a:srgbClr val="12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17007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166420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38"/>
                </a:solidFill>
              </a:rPr>
              <a:t>Deadline Adherence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1874519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A4A62"/>
                </a:solidFill>
              </a:rPr>
              <a:t>Sprint submission timing vs. deadline across all 8 sprints — 8 independent on-time/late data points.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" y="2093976"/>
            <a:ext cx="804672" cy="201168"/>
          </a:xfrm>
          <a:prstGeom prst="rect">
            <a:avLst/>
          </a:prstGeom>
          <a:solidFill>
            <a:srgbClr val="CC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212140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6FD4"/>
                </a:solidFill>
              </a:rPr>
              <a:t>Sprints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90472" y="2093976"/>
            <a:ext cx="804672" cy="201168"/>
          </a:xfrm>
          <a:prstGeom prst="rect">
            <a:avLst/>
          </a:prstGeom>
          <a:solidFill>
            <a:srgbClr val="D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45336" y="212140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4292F"/>
                </a:solidFill>
              </a:rPr>
              <a:t>GitHub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1168" y="1915668"/>
            <a:ext cx="5715000" cy="297180"/>
          </a:xfrm>
          <a:prstGeom prst="rect">
            <a:avLst/>
          </a:prstGeom>
          <a:solidFill>
            <a:srgbClr val="F9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1997964"/>
            <a:ext cx="256032" cy="256032"/>
          </a:xfrm>
          <a:prstGeom prst="rect">
            <a:avLst/>
          </a:prstGeom>
          <a:solidFill>
            <a:srgbClr val="12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199796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196138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38"/>
                </a:solidFill>
              </a:rPr>
              <a:t>Mentor Engagement Depth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" y="217170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A4A62"/>
                </a:solidFill>
              </a:rPr>
              <a:t>Volume, frequency, and complexity of questions asked in AI mentor chat — not just session count.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" y="2391156"/>
            <a:ext cx="992124" cy="201168"/>
          </a:xfrm>
          <a:prstGeom prst="rect">
            <a:avLst/>
          </a:prstGeom>
          <a:solidFill>
            <a:srgbClr val="C2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" y="2418588"/>
            <a:ext cx="91897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E6E55"/>
                </a:solidFill>
              </a:rPr>
              <a:t>Mentor Chat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295144"/>
            <a:ext cx="256032" cy="256032"/>
          </a:xfrm>
          <a:prstGeom prst="rect">
            <a:avLst/>
          </a:prstGeom>
          <a:solidFill>
            <a:srgbClr val="12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229514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" y="225856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38"/>
                </a:solidFill>
              </a:rPr>
              <a:t>Customer Communication Quality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" y="246888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A4A62"/>
                </a:solidFill>
              </a:rPr>
              <a:t>Clarity, listening, and requirement-extraction ability in simulated client conversations each sprint.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" y="2688336"/>
            <a:ext cx="1147572" cy="201168"/>
          </a:xfrm>
          <a:prstGeom prst="rect">
            <a:avLst/>
          </a:prstGeom>
          <a:solidFill>
            <a:srgbClr val="E8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" y="2715768"/>
            <a:ext cx="107441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A1A8A"/>
                </a:solidFill>
              </a:rPr>
              <a:t>Customer Chat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01168" y="2510028"/>
            <a:ext cx="5715000" cy="297180"/>
          </a:xfrm>
          <a:prstGeom prst="rect">
            <a:avLst/>
          </a:prstGeom>
          <a:solidFill>
            <a:srgbClr val="F9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74320" y="2592324"/>
            <a:ext cx="256032" cy="256032"/>
          </a:xfrm>
          <a:prstGeom prst="rect">
            <a:avLst/>
          </a:prstGeom>
          <a:solidFill>
            <a:srgbClr val="12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259232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" y="255574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38"/>
                </a:solidFill>
              </a:rPr>
              <a:t>Peer Collaboration Activity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" y="276606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A4A62"/>
                </a:solidFill>
              </a:rPr>
              <a:t>Private chat volume and breadth with different teammates — measures coordination, not just socialising.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8" y="2985516"/>
            <a:ext cx="836676" cy="201168"/>
          </a:xfrm>
          <a:prstGeom prst="rect">
            <a:avLst/>
          </a:prstGeom>
          <a:solidFill>
            <a:srgbClr val="C8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7512" y="3012948"/>
            <a:ext cx="7635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4A70"/>
                </a:solidFill>
              </a:rPr>
              <a:t>Peer Chat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2889504"/>
            <a:ext cx="256032" cy="256032"/>
          </a:xfrm>
          <a:prstGeom prst="rect">
            <a:avLst/>
          </a:prstGeom>
          <a:solidFill>
            <a:srgbClr val="12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288950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2648" y="285292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38"/>
                </a:solidFill>
              </a:rPr>
              <a:t>Team Communication Contribution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306324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A4A62"/>
                </a:solidFill>
              </a:rPr>
              <a:t>Group chat message distribution and content — identifies both silent members and dominant voices.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" y="3282696"/>
            <a:ext cx="914400" cy="201168"/>
          </a:xfrm>
          <a:prstGeom prst="rect">
            <a:avLst/>
          </a:prstGeom>
          <a:solidFill>
            <a:srgbClr val="C0D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7512" y="3310128"/>
            <a:ext cx="8412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4A70"/>
                </a:solidFill>
              </a:rPr>
              <a:t>Group Chat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1168" y="3104388"/>
            <a:ext cx="5715000" cy="297180"/>
          </a:xfrm>
          <a:prstGeom prst="rect">
            <a:avLst/>
          </a:prstGeom>
          <a:solidFill>
            <a:srgbClr val="F9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74320" y="3186684"/>
            <a:ext cx="256032" cy="256032"/>
          </a:xfrm>
          <a:prstGeom prst="rect">
            <a:avLst/>
          </a:prstGeom>
          <a:solidFill>
            <a:srgbClr val="12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4320" y="31866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2648" y="315010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38"/>
                </a:solidFill>
              </a:rPr>
              <a:t>Proactive Problem Reporting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2648" y="336042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A4A62"/>
                </a:solidFill>
              </a:rPr>
              <a:t>Mentor chat questions raised BEFORE a sprint failure vs. after — distinguishes planners from reactors.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2648" y="3579876"/>
            <a:ext cx="992124" cy="201168"/>
          </a:xfrm>
          <a:prstGeom prst="rect">
            <a:avLst/>
          </a:prstGeom>
          <a:solidFill>
            <a:srgbClr val="C2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" y="3607308"/>
            <a:ext cx="91897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E6E55"/>
                </a:solidFill>
              </a:rPr>
              <a:t>Mentor Chat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677924" y="3579876"/>
            <a:ext cx="804672" cy="201168"/>
          </a:xfrm>
          <a:prstGeom prst="rect">
            <a:avLst/>
          </a:prstGeom>
          <a:solidFill>
            <a:srgbClr val="CC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732788" y="360730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6FD4"/>
                </a:solidFill>
              </a:rPr>
              <a:t>Sprints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3483864"/>
            <a:ext cx="256032" cy="256032"/>
          </a:xfrm>
          <a:prstGeom prst="rect">
            <a:avLst/>
          </a:prstGeom>
          <a:solidFill>
            <a:srgbClr val="12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4320" y="348386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344728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38"/>
                </a:solidFill>
              </a:rPr>
              <a:t>Feedback Responsiveness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2648" y="365760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A4A62"/>
                </a:solidFill>
              </a:rPr>
              <a:t>Time between mentor review feedback and observable improvement in the next board state or commit.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2648" y="3877056"/>
            <a:ext cx="992124" cy="201168"/>
          </a:xfrm>
          <a:prstGeom prst="rect">
            <a:avLst/>
          </a:prstGeom>
          <a:solidFill>
            <a:srgbClr val="C2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7512" y="3904488"/>
            <a:ext cx="91897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E6E55"/>
                </a:solidFill>
              </a:rPr>
              <a:t>Mentor Chat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677924" y="3877056"/>
            <a:ext cx="804672" cy="201168"/>
          </a:xfrm>
          <a:prstGeom prst="rect">
            <a:avLst/>
          </a:prstGeom>
          <a:solidFill>
            <a:srgbClr val="D0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732788" y="390448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4292F"/>
                </a:solidFill>
              </a:rPr>
              <a:t>GitHub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01168" y="3698748"/>
            <a:ext cx="5715000" cy="297180"/>
          </a:xfrm>
          <a:prstGeom prst="rect">
            <a:avLst/>
          </a:prstGeom>
          <a:solidFill>
            <a:srgbClr val="F9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74320" y="3781044"/>
            <a:ext cx="256032" cy="256032"/>
          </a:xfrm>
          <a:prstGeom prst="rect">
            <a:avLst/>
          </a:prstGeom>
          <a:solidFill>
            <a:srgbClr val="12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74320" y="378104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2648" y="374446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38"/>
                </a:solidFill>
              </a:rPr>
              <a:t>Consistency Across Sprints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2648" y="395478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A4A62"/>
                </a:solidFill>
              </a:rPr>
              <a:t>Variance in performance scores across 8 sprints — low variance indicates reliable, not just capable.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12648" y="4174235"/>
            <a:ext cx="804672" cy="201168"/>
          </a:xfrm>
          <a:prstGeom prst="rect">
            <a:avLst/>
          </a:prstGeom>
          <a:solidFill>
            <a:srgbClr val="CC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67512" y="420166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6FD4"/>
                </a:solidFill>
              </a:rPr>
              <a:t>Sprints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490472" y="4174235"/>
            <a:ext cx="1069848" cy="201168"/>
          </a:xfrm>
          <a:prstGeom prst="rect">
            <a:avLst/>
          </a:prstGeom>
          <a:solidFill>
            <a:srgbClr val="CC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545336" y="4201668"/>
            <a:ext cx="99669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A529E"/>
                </a:solidFill>
              </a:rPr>
              <a:t>Gap Analysis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355080" y="1106424"/>
            <a:ext cx="256032" cy="256032"/>
          </a:xfrm>
          <a:prstGeom prst="rect">
            <a:avLst/>
          </a:prstGeom>
          <a:solidFill>
            <a:srgbClr val="12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355080" y="110642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93408" y="106984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38"/>
                </a:solidFill>
              </a:rPr>
              <a:t>Sprint Reflection Quality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693408" y="128016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A4A62"/>
                </a:solidFill>
              </a:rPr>
              <a:t>End-of-sprint written self-assessment (new sensor) — depth and honesty scored by AI vs. actual output.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693408" y="1499616"/>
            <a:ext cx="914400" cy="201168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748272" y="1527048"/>
            <a:ext cx="8412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B1A1A"/>
                </a:solidFill>
              </a:rPr>
              <a:t>New Sensor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281928" y="1321308"/>
            <a:ext cx="5715000" cy="297180"/>
          </a:xfrm>
          <a:prstGeom prst="rect">
            <a:avLst/>
          </a:prstGeom>
          <a:solidFill>
            <a:srgbClr val="F9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355080" y="1403604"/>
            <a:ext cx="256032" cy="256032"/>
          </a:xfrm>
          <a:prstGeom prst="rect">
            <a:avLst/>
          </a:prstGeom>
          <a:solidFill>
            <a:srgbClr val="12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355080" y="140360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693408" y="136702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38"/>
                </a:solidFill>
              </a:rPr>
              <a:t>Self-Explanation Clarity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693408" y="157734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A4A62"/>
                </a:solidFill>
              </a:rPr>
              <a:t>Student narrative explaining decisions (new sensor) — assessed for coherence, ownership, and insight.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693408" y="1796796"/>
            <a:ext cx="914400" cy="201168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748272" y="1824228"/>
            <a:ext cx="8412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B1A1A"/>
                </a:solidFill>
              </a:rPr>
              <a:t>New Sensor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355080" y="1700784"/>
            <a:ext cx="256032" cy="256032"/>
          </a:xfrm>
          <a:prstGeom prst="rect">
            <a:avLst/>
          </a:prstGeom>
          <a:solidFill>
            <a:srgbClr val="12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355080" y="17007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693408" y="166420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38"/>
                </a:solidFill>
              </a:rPr>
              <a:t>Cross-Role Coordination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693408" y="1874519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A4A62"/>
                </a:solidFill>
              </a:rPr>
              <a:t>Evidence of PM syncs, FE/BE handshakes, and design handoffs — captured in private and group chat.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693408" y="2093976"/>
            <a:ext cx="836676" cy="201168"/>
          </a:xfrm>
          <a:prstGeom prst="rect">
            <a:avLst/>
          </a:prstGeom>
          <a:solidFill>
            <a:srgbClr val="C8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748272" y="2121408"/>
            <a:ext cx="7635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4A70"/>
                </a:solidFill>
              </a:rPr>
              <a:t>Peer Chat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603236" y="2093976"/>
            <a:ext cx="914400" cy="201168"/>
          </a:xfrm>
          <a:prstGeom prst="rect">
            <a:avLst/>
          </a:prstGeom>
          <a:solidFill>
            <a:srgbClr val="C0D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658100" y="2121408"/>
            <a:ext cx="8412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4A70"/>
                </a:solidFill>
              </a:rPr>
              <a:t>Group Chat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281928" y="1915668"/>
            <a:ext cx="5715000" cy="297180"/>
          </a:xfrm>
          <a:prstGeom prst="rect">
            <a:avLst/>
          </a:prstGeom>
          <a:solidFill>
            <a:srgbClr val="F9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355080" y="1997964"/>
            <a:ext cx="256032" cy="256032"/>
          </a:xfrm>
          <a:prstGeom prst="rect">
            <a:avLst/>
          </a:prstGeom>
          <a:solidFill>
            <a:srgbClr val="12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355080" y="199796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693408" y="196138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38"/>
                </a:solidFill>
              </a:rPr>
              <a:t>Stakeholder Communication Tone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693408" y="217170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A4A62"/>
                </a:solidFill>
              </a:rPr>
              <a:t>Professionalism and adaptability in AI customer chat — tone analysis across requirement change scenarios.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693408" y="2391156"/>
            <a:ext cx="1147572" cy="201168"/>
          </a:xfrm>
          <a:prstGeom prst="rect">
            <a:avLst/>
          </a:prstGeom>
          <a:solidFill>
            <a:srgbClr val="E8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748272" y="2418588"/>
            <a:ext cx="107441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A1A8A"/>
                </a:solidFill>
              </a:rPr>
              <a:t>Customer Chat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914132" y="2391156"/>
            <a:ext cx="914400" cy="201168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968996" y="2418588"/>
            <a:ext cx="8412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B1A1A"/>
                </a:solidFill>
              </a:rPr>
              <a:t>New Sensor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355080" y="2295144"/>
            <a:ext cx="256032" cy="256032"/>
          </a:xfrm>
          <a:prstGeom prst="rect">
            <a:avLst/>
          </a:prstGeom>
          <a:solidFill>
            <a:srgbClr val="12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355080" y="229514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693408" y="225856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38"/>
                </a:solidFill>
              </a:rPr>
              <a:t>Knowledge Sharing Behaviour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693408" y="246888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A4A62"/>
                </a:solidFill>
              </a:rPr>
              <a:t>Group chat contributions that explain concepts or unblock teammates — signals teaching and leadership.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693408" y="2688336"/>
            <a:ext cx="914400" cy="201168"/>
          </a:xfrm>
          <a:prstGeom prst="rect">
            <a:avLst/>
          </a:prstGeom>
          <a:solidFill>
            <a:srgbClr val="C0D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748272" y="2715768"/>
            <a:ext cx="8412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4A70"/>
                </a:solidFill>
              </a:rPr>
              <a:t>Group Chat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680960" y="2688336"/>
            <a:ext cx="836676" cy="201168"/>
          </a:xfrm>
          <a:prstGeom prst="rect">
            <a:avLst/>
          </a:prstGeom>
          <a:solidFill>
            <a:srgbClr val="C8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735824" y="2715768"/>
            <a:ext cx="7635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4A70"/>
                </a:solidFill>
              </a:rPr>
              <a:t>Peer Chat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281928" y="2510028"/>
            <a:ext cx="5715000" cy="297180"/>
          </a:xfrm>
          <a:prstGeom prst="rect">
            <a:avLst/>
          </a:prstGeom>
          <a:solidFill>
            <a:srgbClr val="F9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6355080" y="2592324"/>
            <a:ext cx="256032" cy="256032"/>
          </a:xfrm>
          <a:prstGeom prst="rect">
            <a:avLst/>
          </a:prstGeom>
          <a:solidFill>
            <a:srgbClr val="12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355080" y="259232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693408" y="255574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38"/>
                </a:solidFill>
              </a:rPr>
              <a:t>Adaptability Under Pressure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693408" y="276606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A4A62"/>
                </a:solidFill>
              </a:rPr>
              <a:t>Response pattern when builds fail or requirements change mid-sprint — measured via mentor chat and commits.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693408" y="2985516"/>
            <a:ext cx="992124" cy="201168"/>
          </a:xfrm>
          <a:prstGeom prst="rect">
            <a:avLst/>
          </a:prstGeom>
          <a:solidFill>
            <a:srgbClr val="C2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748272" y="3012948"/>
            <a:ext cx="91897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E6E55"/>
                </a:solidFill>
              </a:rPr>
              <a:t>Mentor Chat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7758683" y="2985516"/>
            <a:ext cx="1069848" cy="201168"/>
          </a:xfrm>
          <a:prstGeom prst="rect">
            <a:avLst/>
          </a:prstGeom>
          <a:solidFill>
            <a:srgbClr val="FFE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7813548" y="3012948"/>
            <a:ext cx="99669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A3A00"/>
                </a:solidFill>
              </a:rPr>
              <a:t>Build System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355080" y="2889504"/>
            <a:ext cx="256032" cy="256032"/>
          </a:xfrm>
          <a:prstGeom prst="rect">
            <a:avLst/>
          </a:prstGeom>
          <a:solidFill>
            <a:srgbClr val="12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355080" y="288950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693408" y="285292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38"/>
                </a:solidFill>
              </a:rPr>
              <a:t>Role Ownership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693408" y="306324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A4A62"/>
                </a:solidFill>
              </a:rPr>
              <a:t>Consistency of role-specific outputs against the pre-defined skill rubric — not just doing tasks, owning them.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693408" y="3282696"/>
            <a:ext cx="1069848" cy="201168"/>
          </a:xfrm>
          <a:prstGeom prst="rect">
            <a:avLst/>
          </a:prstGeom>
          <a:solidFill>
            <a:srgbClr val="BB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748272" y="3310128"/>
            <a:ext cx="99669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6FD4"/>
                </a:solidFill>
              </a:rPr>
              <a:t>Skill Rubric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836408" y="3282696"/>
            <a:ext cx="804672" cy="201168"/>
          </a:xfrm>
          <a:prstGeom prst="rect">
            <a:avLst/>
          </a:prstGeom>
          <a:solidFill>
            <a:srgbClr val="CC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891272" y="331012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6FD4"/>
                </a:solidFill>
              </a:rPr>
              <a:t>Sprints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281928" y="3104388"/>
            <a:ext cx="5715000" cy="297180"/>
          </a:xfrm>
          <a:prstGeom prst="rect">
            <a:avLst/>
          </a:prstGeom>
          <a:solidFill>
            <a:srgbClr val="F9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6355080" y="3186684"/>
            <a:ext cx="256032" cy="256032"/>
          </a:xfrm>
          <a:prstGeom prst="rect">
            <a:avLst/>
          </a:prstGeom>
          <a:solidFill>
            <a:srgbClr val="12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6355080" y="31866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693408" y="315010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38"/>
                </a:solidFill>
              </a:rPr>
              <a:t>Initiative Beyond Requirements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693408" y="336042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A4A62"/>
                </a:solidFill>
              </a:rPr>
              <a:t>Resources created, documentation added, or mentor questions asked beyond the minimum sprint scope.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693408" y="3579876"/>
            <a:ext cx="1069848" cy="201168"/>
          </a:xfrm>
          <a:prstGeom prst="rect">
            <a:avLst/>
          </a:prstGeom>
          <a:solidFill>
            <a:srgbClr val="CC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748272" y="3607308"/>
            <a:ext cx="99669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6FD4"/>
                </a:solidFill>
              </a:rPr>
              <a:t>Deliverables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7836408" y="3579876"/>
            <a:ext cx="992124" cy="201168"/>
          </a:xfrm>
          <a:prstGeom prst="rect">
            <a:avLst/>
          </a:prstGeom>
          <a:solidFill>
            <a:srgbClr val="C2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7891272" y="3607308"/>
            <a:ext cx="91897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E6E55"/>
                </a:solidFill>
              </a:rPr>
              <a:t>Mentor Chat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355080" y="3483864"/>
            <a:ext cx="256032" cy="256032"/>
          </a:xfrm>
          <a:prstGeom prst="rect">
            <a:avLst/>
          </a:prstGeom>
          <a:solidFill>
            <a:srgbClr val="12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355080" y="348386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19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693408" y="344728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38"/>
                </a:solidFill>
              </a:rPr>
              <a:t>Planning vs. Reality Gap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693408" y="365760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A4A62"/>
                </a:solidFill>
              </a:rPr>
              <a:t>Difference between stated sprint intent and actual delivery — self-awareness and estimation maturity.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6693408" y="3877056"/>
            <a:ext cx="804672" cy="201168"/>
          </a:xfrm>
          <a:prstGeom prst="rect">
            <a:avLst/>
          </a:prstGeom>
          <a:solidFill>
            <a:srgbClr val="CC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6748272" y="390448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6FD4"/>
                </a:solidFill>
              </a:rPr>
              <a:t>Sprints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7571232" y="3877056"/>
            <a:ext cx="914400" cy="201168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7626096" y="3904488"/>
            <a:ext cx="8412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B1A1A"/>
                </a:solidFill>
              </a:rPr>
              <a:t>New Sensor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6281928" y="3698748"/>
            <a:ext cx="5715000" cy="297180"/>
          </a:xfrm>
          <a:prstGeom prst="rect">
            <a:avLst/>
          </a:prstGeom>
          <a:solidFill>
            <a:srgbClr val="F9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355080" y="3781044"/>
            <a:ext cx="256032" cy="256032"/>
          </a:xfrm>
          <a:prstGeom prst="rect">
            <a:avLst/>
          </a:prstGeom>
          <a:solidFill>
            <a:srgbClr val="12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6355080" y="378104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693408" y="374446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38"/>
                </a:solidFill>
              </a:rPr>
              <a:t>Professional Communication Growth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693408" y="395478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A4A62"/>
                </a:solidFill>
              </a:rPr>
              <a:t>Tone and clarity evolution in customer and group chat from Sprint 1 to Sprint 8 — trajectory, not snapshot.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6693408" y="4174235"/>
            <a:ext cx="1147572" cy="201168"/>
          </a:xfrm>
          <a:prstGeom prst="rect">
            <a:avLst/>
          </a:prstGeom>
          <a:solidFill>
            <a:srgbClr val="E8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748272" y="4201668"/>
            <a:ext cx="107441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A1A8A"/>
                </a:solidFill>
              </a:rPr>
              <a:t>Customer Chat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7914132" y="4174235"/>
            <a:ext cx="914400" cy="201168"/>
          </a:xfrm>
          <a:prstGeom prst="rect">
            <a:avLst/>
          </a:prstGeom>
          <a:solidFill>
            <a:srgbClr val="C0D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7968996" y="4201668"/>
            <a:ext cx="8412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4A70"/>
                </a:solidFill>
              </a:rPr>
              <a:t>Group Chat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6035040" y="987552"/>
            <a:ext cx="54864" cy="580644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274320" y="6757416"/>
            <a:ext cx="1161288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A9BB5"/>
                </a:solidFill>
              </a:rPr>
              <a:t>* New Sensor = student self-explanation input (planned addition)   |   Skill Rubric = match against pre-defined role specification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